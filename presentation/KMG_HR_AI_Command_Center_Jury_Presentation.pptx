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1pPr>
    <a:lvl2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2pPr>
    <a:lvl3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3pPr>
    <a:lvl4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4pPr>
    <a:lvl5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5pPr>
    <a:lvl6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6pPr>
    <a:lvl7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7pPr>
    <a:lvl8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8pPr>
    <a:lvl9pPr marL="0" marR="0" indent="0" algn="l" defTabSz="821531" rtl="0" fontAlgn="auto" latinLnBrk="0" hangingPunct="0">
      <a:lnSpc>
        <a:spcPct val="100000"/>
      </a:lnSpc>
      <a:spcBef>
        <a:spcPts val="500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50800" dist="38100" dir="5400000">
            <a:srgbClr val="000000"/>
          </a:outerShdw>
        </a:effectLst>
        <a:uFillTx/>
        <a:latin typeface="+mn-lt"/>
        <a:ea typeface="+mn-ea"/>
        <a:cs typeface="+mn-cs"/>
        <a:sym typeface="Helvetica Neue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676163">
              <a:alpha val="36000"/>
            </a:srgbClr>
          </a:solidFill>
        </a:fill>
      </a:tcStyle>
    </a:wholeTbl>
    <a:band2H>
      <a:tcTxStyle b="def" i="def"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4908F">
              <a:alpha val="64999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1E00">
              <a:alpha val="8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2800">
              <a:alpha val="80000"/>
            </a:srgb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 b="def" i="def"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Частичный вид на металлические зубчатые колёса"/>
          <p:cNvSpPr/>
          <p:nvPr>
            <p:ph type="pic" sz="half" idx="21"/>
          </p:nvPr>
        </p:nvSpPr>
        <p:spPr>
          <a:xfrm>
            <a:off x="6464300" y="2627463"/>
            <a:ext cx="11417300" cy="8559012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6477000" y="8788400"/>
            <a:ext cx="11430000" cy="12192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xfrm>
            <a:off x="6477000" y="56388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3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Зубчатые колёса велосипеда крупным планом"/>
          <p:cNvSpPr/>
          <p:nvPr>
            <p:ph type="pic" sz="quarter" idx="21"/>
          </p:nvPr>
        </p:nvSpPr>
        <p:spPr>
          <a:xfrm>
            <a:off x="12700000" y="3238500"/>
            <a:ext cx="5407529" cy="7213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8" name="Текст заголовка"/>
          <p:cNvSpPr txBox="1"/>
          <p:nvPr>
            <p:ph type="title"/>
          </p:nvPr>
        </p:nvSpPr>
        <p:spPr>
          <a:xfrm>
            <a:off x="6477000" y="3365500"/>
            <a:ext cx="5638800" cy="35052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" name="Уровень текста 1…"/>
          <p:cNvSpPr txBox="1"/>
          <p:nvPr>
            <p:ph type="body" sz="quarter" idx="1"/>
          </p:nvPr>
        </p:nvSpPr>
        <p:spPr>
          <a:xfrm>
            <a:off x="6477000" y="6858000"/>
            <a:ext cx="5638800" cy="375920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/>
          <p:nvPr>
            <p:ph type="title"/>
          </p:nvPr>
        </p:nvSpPr>
        <p:spPr>
          <a:xfrm>
            <a:off x="6477000" y="22352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4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Текст заголовка"/>
          <p:cNvSpPr txBox="1"/>
          <p:nvPr>
            <p:ph type="title"/>
          </p:nvPr>
        </p:nvSpPr>
        <p:spPr>
          <a:xfrm>
            <a:off x="6477000" y="22352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56" name="Уровень текста 1…"/>
          <p:cNvSpPr txBox="1"/>
          <p:nvPr>
            <p:ph type="body" sz="quarter" idx="1"/>
          </p:nvPr>
        </p:nvSpPr>
        <p:spPr>
          <a:xfrm>
            <a:off x="6477000" y="4749800"/>
            <a:ext cx="11430000" cy="5715000"/>
          </a:xfrm>
          <a:prstGeom prst="rect">
            <a:avLst/>
          </a:prstGeom>
        </p:spPr>
        <p:txBody>
          <a:bodyPr anchor="ctr"/>
          <a:lstStyle>
            <a:lvl1pPr marL="617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1pPr>
            <a:lvl2pPr marL="1061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2pPr>
            <a:lvl3pPr marL="1506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3pPr>
            <a:lvl4pPr marL="1950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4pPr>
            <a:lvl5pPr marL="2395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Зубчатые колёса велосипеда крупным планом"/>
          <p:cNvSpPr/>
          <p:nvPr>
            <p:ph type="pic" sz="quarter" idx="21"/>
          </p:nvPr>
        </p:nvSpPr>
        <p:spPr>
          <a:xfrm>
            <a:off x="12903200" y="4254500"/>
            <a:ext cx="5016500" cy="669201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5" name="Текст заголовка"/>
          <p:cNvSpPr txBox="1"/>
          <p:nvPr>
            <p:ph type="title"/>
          </p:nvPr>
        </p:nvSpPr>
        <p:spPr>
          <a:xfrm>
            <a:off x="6477000" y="22352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66" name="Уровень текста 1…"/>
          <p:cNvSpPr txBox="1"/>
          <p:nvPr>
            <p:ph type="body" sz="quarter" idx="1"/>
          </p:nvPr>
        </p:nvSpPr>
        <p:spPr>
          <a:xfrm>
            <a:off x="6477000" y="4749800"/>
            <a:ext cx="5422900" cy="5715000"/>
          </a:xfrm>
          <a:prstGeom prst="rect">
            <a:avLst/>
          </a:prstGeom>
        </p:spPr>
        <p:txBody>
          <a:bodyPr anchor="ctr"/>
          <a:lstStyle>
            <a:lvl1pPr marL="617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1pPr>
            <a:lvl2pPr marL="1061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2pPr>
            <a:lvl3pPr marL="1506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3pPr>
            <a:lvl4pPr marL="1950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4pPr>
            <a:lvl5pPr marL="2395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Текст заголовка"/>
          <p:cNvSpPr txBox="1"/>
          <p:nvPr>
            <p:ph type="title"/>
          </p:nvPr>
        </p:nvSpPr>
        <p:spPr>
          <a:xfrm>
            <a:off x="6477000" y="22352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75" name="Уровень текста 1…"/>
          <p:cNvSpPr txBox="1"/>
          <p:nvPr>
            <p:ph type="body" sz="quarter" idx="1"/>
          </p:nvPr>
        </p:nvSpPr>
        <p:spPr>
          <a:xfrm>
            <a:off x="6477000" y="4749800"/>
            <a:ext cx="5422900" cy="5715000"/>
          </a:xfrm>
          <a:prstGeom prst="rect">
            <a:avLst/>
          </a:prstGeom>
        </p:spPr>
        <p:txBody>
          <a:bodyPr anchor="ctr"/>
          <a:lstStyle>
            <a:lvl1pPr marL="617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1pPr>
            <a:lvl2pPr marL="1061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2pPr>
            <a:lvl3pPr marL="1506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3pPr>
            <a:lvl4pPr marL="1950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4pPr>
            <a:lvl5pPr marL="2395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Текст заголовка"/>
          <p:cNvSpPr txBox="1"/>
          <p:nvPr>
            <p:ph type="title"/>
          </p:nvPr>
        </p:nvSpPr>
        <p:spPr>
          <a:xfrm>
            <a:off x="6477000" y="2235200"/>
            <a:ext cx="11430000" cy="2438400"/>
          </a:xfrm>
          <a:prstGeom prst="rect">
            <a:avLst/>
          </a:prstGeom>
        </p:spPr>
        <p:txBody>
          <a:bodyPr anchor="ctr"/>
          <a:lstStyle/>
          <a:p>
            <a:pPr/>
            <a:r>
              <a:t>Текст заголовка</a:t>
            </a:r>
          </a:p>
        </p:txBody>
      </p:sp>
      <p:sp>
        <p:nvSpPr>
          <p:cNvPr id="84" name="Уровень текста 1…"/>
          <p:cNvSpPr txBox="1"/>
          <p:nvPr>
            <p:ph type="body" sz="quarter" idx="1"/>
          </p:nvPr>
        </p:nvSpPr>
        <p:spPr>
          <a:xfrm>
            <a:off x="6477000" y="4749800"/>
            <a:ext cx="5422900" cy="5715000"/>
          </a:xfrm>
          <a:prstGeom prst="rect">
            <a:avLst/>
          </a:prstGeom>
        </p:spPr>
        <p:txBody>
          <a:bodyPr anchor="ctr"/>
          <a:lstStyle>
            <a:lvl1pPr marL="617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1pPr>
            <a:lvl2pPr marL="1061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2pPr>
            <a:lvl3pPr marL="1506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3pPr>
            <a:lvl4pPr marL="1950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4pPr>
            <a:lvl5pPr marL="2395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/>
          <p:nvPr>
            <p:ph type="body" sz="half" idx="1"/>
          </p:nvPr>
        </p:nvSpPr>
        <p:spPr>
          <a:xfrm>
            <a:off x="6477000" y="3352800"/>
            <a:ext cx="11430000" cy="7010400"/>
          </a:xfrm>
          <a:prstGeom prst="rect">
            <a:avLst/>
          </a:prstGeom>
        </p:spPr>
        <p:txBody>
          <a:bodyPr anchor="ctr"/>
          <a:lstStyle>
            <a:lvl1pPr marL="617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1pPr>
            <a:lvl2pPr marL="1061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2pPr>
            <a:lvl3pPr marL="1506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3pPr>
            <a:lvl4pPr marL="19508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4pPr>
            <a:lvl5pPr marL="2395361" indent="-617361">
              <a:spcBef>
                <a:spcPts val="5000"/>
              </a:spcBef>
              <a:buSzPct val="30000"/>
              <a:buBlip>
                <a:blip r:embed="rId2"/>
              </a:buBlip>
              <a:defRPr sz="5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Нижняя часть велосипедного колеса крупным планом"/>
          <p:cNvSpPr/>
          <p:nvPr>
            <p:ph type="pic" sz="quarter" idx="21"/>
          </p:nvPr>
        </p:nvSpPr>
        <p:spPr>
          <a:xfrm>
            <a:off x="12498350" y="7081198"/>
            <a:ext cx="5370687" cy="402801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1" name="Крупный план велосипедной цепи на зубчатом колесе"/>
          <p:cNvSpPr/>
          <p:nvPr>
            <p:ph type="pic" sz="quarter" idx="22"/>
          </p:nvPr>
        </p:nvSpPr>
        <p:spPr>
          <a:xfrm>
            <a:off x="12547600" y="2946400"/>
            <a:ext cx="5318754" cy="3987219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Зубчатые колёса велосипеда крупным планом"/>
          <p:cNvSpPr/>
          <p:nvPr>
            <p:ph type="pic" sz="quarter" idx="23"/>
          </p:nvPr>
        </p:nvSpPr>
        <p:spPr>
          <a:xfrm>
            <a:off x="6845300" y="3225800"/>
            <a:ext cx="5407496" cy="7213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Номер слайда"/>
          <p:cNvSpPr txBox="1"/>
          <p:nvPr>
            <p:ph type="sldNum" sz="quarter" idx="2"/>
          </p:nvPr>
        </p:nvSpPr>
        <p:spPr>
          <a:xfrm>
            <a:off x="18168010" y="11255515"/>
            <a:ext cx="368504" cy="387070"/>
          </a:xfrm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— Иван Арсентьев"/>
          <p:cNvSpPr txBox="1"/>
          <p:nvPr>
            <p:ph type="body" sz="quarter" idx="21"/>
          </p:nvPr>
        </p:nvSpPr>
        <p:spPr>
          <a:xfrm>
            <a:off x="6959600" y="8343900"/>
            <a:ext cx="10464800" cy="585521"/>
          </a:xfrm>
          <a:prstGeom prst="rect">
            <a:avLst/>
          </a:prstGeom>
        </p:spPr>
        <p:txBody>
          <a:bodyPr>
            <a:spAutoFit/>
          </a:bodyPr>
          <a:lstStyle>
            <a:lvl1pPr algn="ctr">
              <a:defRPr i="1" sz="3200">
                <a:effectLst>
                  <a:outerShdw sx="100000" sy="100000" kx="0" ky="0" algn="b" rotWithShape="0" blurRad="38100" dist="36285" dir="2700000">
                    <a:srgbClr val="000000">
                      <a:alpha val="48000"/>
                    </a:srgbClr>
                  </a:outerShdw>
                </a:effectLst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— Иван Арсентьев</a:t>
            </a:r>
          </a:p>
        </p:txBody>
      </p:sp>
      <p:sp>
        <p:nvSpPr>
          <p:cNvPr id="111" name="«Место ввода цитаты»."/>
          <p:cNvSpPr txBox="1"/>
          <p:nvPr>
            <p:ph type="body" sz="quarter" idx="22"/>
          </p:nvPr>
        </p:nvSpPr>
        <p:spPr>
          <a:xfrm>
            <a:off x="6959600" y="6149659"/>
            <a:ext cx="10464800" cy="845182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5000">
                <a:solidFill>
                  <a:srgbClr val="FFFFFF"/>
                </a:solidFill>
                <a:effectLst>
                  <a:outerShdw sx="100000" sy="100000" kx="0" ky="0" algn="b" rotWithShape="0" blurRad="38100" dist="54428" dir="2700000">
                    <a:srgbClr val="000000">
                      <a:alpha val="48000"/>
                    </a:srgbClr>
                  </a:outerShdw>
                </a:effectLst>
              </a:defRPr>
            </a:lvl1pPr>
          </a:lstStyle>
          <a:p>
            <a:pPr/>
            <a:r>
              <a:t>«Место ввода цитаты».</a:t>
            </a:r>
          </a:p>
        </p:txBody>
      </p:sp>
      <p:sp>
        <p:nvSpPr>
          <p:cNvPr id="11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Крупный план велосипедной цепи на зубчатом колесе"/>
          <p:cNvSpPr/>
          <p:nvPr>
            <p:ph type="pic" sz="half" idx="21"/>
          </p:nvPr>
        </p:nvSpPr>
        <p:spPr>
          <a:xfrm>
            <a:off x="5689600" y="1981200"/>
            <a:ext cx="13010823" cy="9753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6540500" y="3251200"/>
            <a:ext cx="11303000" cy="350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540500" y="6845300"/>
            <a:ext cx="11303000" cy="157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8169331" y="11255515"/>
            <a:ext cx="368504" cy="38707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r">
              <a:spcBef>
                <a:spcPts val="0"/>
              </a:spcBef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transition xmlns:p14="http://schemas.microsoft.com/office/powerpoint/2010/main" spd="med" advClick="1"/>
  <p:txStyles>
    <p:titleStyle>
      <a:lvl1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FFF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800" u="none">
          <a:solidFill>
            <a:srgbClr val="73BFFF"/>
          </a:solidFill>
          <a:effectLst>
            <a:outerShdw sx="100000" sy="100000" kx="0" ky="0" algn="b" rotWithShape="0" blurRad="50800" dist="38100" dir="5400000">
              <a:srgbClr val="000000"/>
            </a:outerShdw>
          </a:effectLst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Нажмите дважд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7" name="Нажмите дважды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KMG HR AI Command Cen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2579">
              <a:defRPr sz="770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lvl1pPr>
          </a:lstStyle>
          <a:p>
            <a:pPr/>
            <a:r>
              <a:t>KMG HR AI Command Center</a:t>
            </a:r>
          </a:p>
        </p:txBody>
      </p:sp>
      <p:sp>
        <p:nvSpPr>
          <p:cNvPr id="140" name="AI-слой над Performance Management для оценки качества целей, стратегической связки и генерации сильных формулировок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  <a:r>
              <a:t>AI-слой над Performance Management для оценки качества целей, стратегической связки и генерации сильных формулировок.</a:t>
            </a:r>
          </a:p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</a:p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  <a:r>
              <a:t>Demo Day · 30 марта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1. Проблема бизне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47593">
              <a:defRPr sz="9100">
                <a:effectLst>
                  <a:outerShdw sx="100000" sy="100000" kx="0" ky="0" algn="b" rotWithShape="0" blurRad="46228" dist="34671" dir="5400000">
                    <a:srgbClr val="000000"/>
                  </a:outerShdw>
                </a:effectLst>
              </a:defRPr>
            </a:lvl1pPr>
          </a:lstStyle>
          <a:p>
            <a:pPr/>
            <a:r>
              <a:t>1. Проблема бизнеса</a:t>
            </a:r>
          </a:p>
        </p:txBody>
      </p:sp>
      <p:sp>
        <p:nvSpPr>
          <p:cNvPr id="143" name="SMART не гарантирует связь цели с бизнесом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75368" indent="-475368" defTabSz="632579">
              <a:spcBef>
                <a:spcPts val="3800"/>
              </a:spcBef>
              <a:buBlip>
                <a:blip r:embed="rId2"/>
              </a:buBlip>
              <a:defRPr sz="385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pPr>
            <a:r>
              <a:t>SMART не гарантирует связь цели с бизнесом.</a:t>
            </a:r>
          </a:p>
          <a:p>
            <a:pPr marL="475368" indent="-475368" defTabSz="632579">
              <a:spcBef>
                <a:spcPts val="3800"/>
              </a:spcBef>
              <a:buBlip>
                <a:blip r:embed="rId2"/>
              </a:buBlip>
              <a:defRPr sz="385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pPr>
            <a:r>
              <a:t>Цели часто не связаны с KPI, ВНД и каскадом руководителя.</a:t>
            </a:r>
          </a:p>
          <a:p>
            <a:pPr marL="475368" indent="-475368" defTabSz="632579">
              <a:spcBef>
                <a:spcPts val="3800"/>
              </a:spcBef>
              <a:buBlip>
                <a:blip r:embed="rId2"/>
              </a:buBlip>
              <a:defRPr sz="385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pPr>
            <a:r>
              <a:t>Performance Management превращается в формальность.</a:t>
            </a:r>
          </a:p>
          <a:p>
            <a:pPr marL="475368" indent="-475368" defTabSz="632579">
              <a:spcBef>
                <a:spcPts val="3800"/>
              </a:spcBef>
              <a:buBlip>
                <a:blip r:embed="rId2"/>
              </a:buBlip>
              <a:defRPr sz="385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pPr>
            <a:r>
              <a:t>Руководитель не видит качество goal set по подразделению.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2. Что делает реше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98301">
              <a:defRPr sz="8500">
                <a:effectLst>
                  <a:outerShdw sx="100000" sy="100000" kx="0" ky="0" algn="b" rotWithShape="0" blurRad="43180" dist="32385" dir="5400000">
                    <a:srgbClr val="000000"/>
                  </a:outerShdw>
                </a:effectLst>
              </a:defRPr>
            </a:lvl1pPr>
          </a:lstStyle>
          <a:p>
            <a:pPr/>
            <a:r>
              <a:t>2. Что делает решение</a:t>
            </a:r>
          </a:p>
        </p:txBody>
      </p:sp>
      <p:sp>
        <p:nvSpPr>
          <p:cNvPr id="146" name="Собирает единый контекст: сотрудник, проекты, KPI, каскад от руководителя и ВНД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32152" indent="-432152" defTabSz="575071">
              <a:spcBef>
                <a:spcPts val="3500"/>
              </a:spcBef>
              <a:buBlip>
                <a:blip r:embed="rId2"/>
              </a:buBlip>
              <a:defRPr sz="3500">
                <a:effectLst>
                  <a:outerShdw sx="100000" sy="100000" kx="0" ky="0" algn="b" rotWithShape="0" blurRad="35560" dist="26669" dir="5400000">
                    <a:srgbClr val="000000"/>
                  </a:outerShdw>
                </a:effectLst>
              </a:defRPr>
            </a:pPr>
            <a:r>
              <a:t>Собирает единый контекст: сотрудник, проекты, KPI, каскад от руководителя и ВНД.</a:t>
            </a:r>
          </a:p>
          <a:p>
            <a:pPr marL="432152" indent="-432152" defTabSz="575071">
              <a:spcBef>
                <a:spcPts val="3500"/>
              </a:spcBef>
              <a:buBlip>
                <a:blip r:embed="rId2"/>
              </a:buBlip>
              <a:defRPr sz="3500">
                <a:effectLst>
                  <a:outerShdw sx="100000" sy="100000" kx="0" ky="0" algn="b" rotWithShape="0" blurRad="35560" dist="26669" dir="5400000">
                    <a:srgbClr val="000000"/>
                  </a:outerShdw>
                </a:effectLst>
              </a:defRPr>
            </a:pPr>
            <a:r>
              <a:t>Оценивает цель: SMART, стратегическая связка, риск дублирования, тип цели.</a:t>
            </a:r>
          </a:p>
          <a:p>
            <a:pPr marL="432152" indent="-432152" defTabSz="575071">
              <a:spcBef>
                <a:spcPts val="3500"/>
              </a:spcBef>
              <a:buBlip>
                <a:blip r:embed="rId2"/>
              </a:buBlip>
              <a:defRPr sz="3500">
                <a:effectLst>
                  <a:outerShdw sx="100000" sy="100000" kx="0" ky="0" algn="b" rotWithShape="0" blurRad="35560" dist="26669" dir="5400000">
                    <a:srgbClr val="000000"/>
                  </a:outerShdw>
                </a:effectLst>
              </a:defRPr>
            </a:pPr>
            <a:r>
              <a:t>Генерирует 3-5 сильных целей по контексту роли и фокусу квартала.</a:t>
            </a:r>
          </a:p>
          <a:p>
            <a:pPr marL="432152" indent="-432152" defTabSz="575071">
              <a:spcBef>
                <a:spcPts val="3500"/>
              </a:spcBef>
              <a:buBlip>
                <a:blip r:embed="rId2"/>
              </a:buBlip>
              <a:defRPr sz="3500">
                <a:effectLst>
                  <a:outerShdw sx="100000" sy="100000" kx="0" ky="0" algn="b" rotWithShape="0" blurRad="35560" dist="26669" dir="5400000">
                    <a:srgbClr val="000000"/>
                  </a:outerShdw>
                </a:effectLst>
              </a:defRPr>
            </a:pPr>
            <a:r>
              <a:t>Показывает зрелость целеполагания по подразделениям.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3. Масштаб демо-данны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2579">
              <a:defRPr sz="770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lvl1pPr>
          </a:lstStyle>
          <a:p>
            <a:pPr/>
            <a:r>
              <a:t>3. Масштаб демо-данных</a:t>
            </a:r>
          </a:p>
        </p:txBody>
      </p:sp>
      <p:sp>
        <p:nvSpPr>
          <p:cNvPr id="149" name="450 сотрудников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605013" indent="-605013" defTabSz="805100">
              <a:spcBef>
                <a:spcPts val="4900"/>
              </a:spcBef>
              <a:buBlip>
                <a:blip r:embed="rId2"/>
              </a:buBlip>
              <a:defRPr sz="4900">
                <a:effectLst>
                  <a:outerShdw sx="100000" sy="100000" kx="0" ky="0" algn="b" rotWithShape="0" blurRad="49784" dist="37338" dir="5400000">
                    <a:srgbClr val="000000"/>
                  </a:outerShdw>
                </a:effectLst>
              </a:defRPr>
            </a:pPr>
            <a:r>
              <a:t>450 сотрудников</a:t>
            </a:r>
          </a:p>
          <a:p>
            <a:pPr marL="605013" indent="-605013" defTabSz="805100">
              <a:spcBef>
                <a:spcPts val="4900"/>
              </a:spcBef>
              <a:buBlip>
                <a:blip r:embed="rId2"/>
              </a:buBlip>
              <a:defRPr sz="4900">
                <a:effectLst>
                  <a:outerShdw sx="100000" sy="100000" kx="0" ky="0" algn="b" rotWithShape="0" blurRad="49784" dist="37338" dir="5400000">
                    <a:srgbClr val="000000"/>
                  </a:outerShdw>
                </a:effectLst>
              </a:defRPr>
            </a:pPr>
            <a:r>
              <a:t>9000 целей</a:t>
            </a:r>
          </a:p>
          <a:p>
            <a:pPr marL="605013" indent="-605013" defTabSz="805100">
              <a:spcBef>
                <a:spcPts val="4900"/>
              </a:spcBef>
              <a:buBlip>
                <a:blip r:embed="rId2"/>
              </a:buBlip>
              <a:defRPr sz="4900">
                <a:effectLst>
                  <a:outerShdw sx="100000" sy="100000" kx="0" ky="0" algn="b" rotWithShape="0" blurRad="49784" dist="37338" dir="5400000">
                    <a:srgbClr val="000000"/>
                  </a:outerShdw>
                </a:effectLst>
              </a:defRPr>
            </a:pPr>
            <a:r>
              <a:t>160 ВНД</a:t>
            </a:r>
          </a:p>
          <a:p>
            <a:pPr marL="605013" indent="-605013" defTabSz="805100">
              <a:spcBef>
                <a:spcPts val="4900"/>
              </a:spcBef>
              <a:buBlip>
                <a:blip r:embed="rId2"/>
              </a:buBlip>
              <a:defRPr sz="4900">
                <a:effectLst>
                  <a:outerShdw sx="100000" sy="100000" kx="0" ky="0" algn="b" rotWithShape="0" blurRad="49784" dist="37338" dir="5400000">
                    <a:srgbClr val="000000"/>
                  </a:outerShdw>
                </a:effectLst>
              </a:defRPr>
            </a:pPr>
            <a:r>
              <a:t>Полный workflow: от employee-level до department-level radar.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4. Как проходит демо за 90 секун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2579">
              <a:defRPr sz="770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lvl1pPr>
          </a:lstStyle>
          <a:p>
            <a:pPr/>
            <a:r>
              <a:t>4. Как проходит демо за 90 секунд</a:t>
            </a:r>
          </a:p>
        </p:txBody>
      </p:sp>
      <p:sp>
        <p:nvSpPr>
          <p:cNvPr id="152" name="1. Показываем radar зрелости по подразделениям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0673" indent="-450673" defTabSz="599717">
              <a:spcBef>
                <a:spcPts val="3600"/>
              </a:spcBef>
              <a:buBlip>
                <a:blip r:embed="rId2"/>
              </a:buBlip>
              <a:defRPr sz="3650">
                <a:effectLst>
                  <a:outerShdw sx="100000" sy="100000" kx="0" ky="0" algn="b" rotWithShape="0" blurRad="37084" dist="27813" dir="5400000">
                    <a:srgbClr val="000000"/>
                  </a:outerShdw>
                </a:effectLst>
              </a:defRPr>
            </a:pPr>
            <a:r>
              <a:t>1. Показываем radar зрелости по подразделениям.</a:t>
            </a:r>
          </a:p>
          <a:p>
            <a:pPr marL="450673" indent="-450673" defTabSz="599717">
              <a:spcBef>
                <a:spcPts val="3600"/>
              </a:spcBef>
              <a:buBlip>
                <a:blip r:embed="rId2"/>
              </a:buBlip>
              <a:defRPr sz="3650">
                <a:effectLst>
                  <a:outerShdw sx="100000" sy="100000" kx="0" ky="0" algn="b" rotWithShape="0" blurRad="37084" dist="27813" dir="5400000">
                    <a:srgbClr val="000000"/>
                  </a:outerShdw>
                </a:effectLst>
              </a:defRPr>
            </a:pPr>
            <a:r>
              <a:t>2. Открываем контекст сотрудника: роль, KPI, каскад, ВНД.</a:t>
            </a:r>
          </a:p>
          <a:p>
            <a:pPr marL="450673" indent="-450673" defTabSz="599717">
              <a:spcBef>
                <a:spcPts val="3600"/>
              </a:spcBef>
              <a:buBlip>
                <a:blip r:embed="rId2"/>
              </a:buBlip>
              <a:defRPr sz="3650">
                <a:effectLst>
                  <a:outerShdw sx="100000" sy="100000" kx="0" ky="0" algn="b" rotWithShape="0" blurRad="37084" dist="27813" dir="5400000">
                    <a:srgbClr val="000000"/>
                  </a:outerShdw>
                </a:effectLst>
              </a:defRPr>
            </a:pPr>
            <a:r>
              <a:t>3. Проверяем слабую цель и видим разбор + подтверждение из ВНД.</a:t>
            </a:r>
          </a:p>
          <a:p>
            <a:pPr marL="450673" indent="-450673" defTabSz="599717">
              <a:spcBef>
                <a:spcPts val="3600"/>
              </a:spcBef>
              <a:buBlip>
                <a:blip r:embed="rId2"/>
              </a:buBlip>
              <a:defRPr sz="3650">
                <a:effectLst>
                  <a:outerShdw sx="100000" sy="100000" kx="0" ky="0" algn="b" rotWithShape="0" blurRad="37084" dist="27813" dir="5400000">
                    <a:srgbClr val="000000"/>
                  </a:outerShdw>
                </a:effectLst>
              </a:defRPr>
            </a:pPr>
            <a:r>
              <a:t>4. Генерируем новый набор целей и возвращаем лучшую формулировку в Goal Studio.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5. Почему это не просто LLM dem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2579">
              <a:defRPr sz="770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lvl1pPr>
          </a:lstStyle>
          <a:p>
            <a:pPr/>
            <a:r>
              <a:t>5. Почему это не просто LLM demo</a:t>
            </a:r>
          </a:p>
        </p:txBody>
      </p:sp>
      <p:sp>
        <p:nvSpPr>
          <p:cNvPr id="155" name="Hybrid architecture: retrieval + deterministic scoring + optional external LLM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38326" indent="-438326" defTabSz="583287">
              <a:spcBef>
                <a:spcPts val="3500"/>
              </a:spcBef>
              <a:buBlip>
                <a:blip r:embed="rId2"/>
              </a:buBlip>
              <a:defRPr sz="3550">
                <a:effectLst>
                  <a:outerShdw sx="100000" sy="100000" kx="0" ky="0" algn="b" rotWithShape="0" blurRad="36068" dist="27050" dir="5400000">
                    <a:srgbClr val="000000"/>
                  </a:outerShdw>
                </a:effectLst>
              </a:defRPr>
            </a:pPr>
            <a:r>
              <a:t>Hybrid architecture: retrieval + deterministic scoring + optional external LLM.</a:t>
            </a:r>
          </a:p>
          <a:p>
            <a:pPr marL="438326" indent="-438326" defTabSz="583287">
              <a:spcBef>
                <a:spcPts val="3500"/>
              </a:spcBef>
              <a:buBlip>
                <a:blip r:embed="rId2"/>
              </a:buBlip>
              <a:defRPr sz="3550">
                <a:effectLst>
                  <a:outerShdw sx="100000" sy="100000" kx="0" ky="0" algn="b" rotWithShape="0" blurRad="36068" dist="27050" dir="5400000">
                    <a:srgbClr val="000000"/>
                  </a:outerShdw>
                </a:effectLst>
              </a:defRPr>
            </a:pPr>
            <a:r>
              <a:t>Каждый вывод объясним и привязан к ВНД, KPI и контексту роли.</a:t>
            </a:r>
          </a:p>
          <a:p>
            <a:pPr marL="438326" indent="-438326" defTabSz="583287">
              <a:spcBef>
                <a:spcPts val="3500"/>
              </a:spcBef>
              <a:buBlip>
                <a:blip r:embed="rId2"/>
              </a:buBlip>
              <a:defRPr sz="3550">
                <a:effectLst>
                  <a:outerShdw sx="100000" sy="100000" kx="0" ky="0" algn="b" rotWithShape="0" blurRad="36068" dist="27050" dir="5400000">
                    <a:srgbClr val="000000"/>
                  </a:outerShdw>
                </a:effectLst>
              </a:defRPr>
            </a:pPr>
            <a:r>
              <a:t>Система остаётся рабочей даже без внешнего LLM-ключа.</a:t>
            </a:r>
          </a:p>
          <a:p>
            <a:pPr marL="438326" indent="-438326" defTabSz="583287">
              <a:spcBef>
                <a:spcPts val="3500"/>
              </a:spcBef>
              <a:buBlip>
                <a:blip r:embed="rId2"/>
              </a:buBlip>
              <a:defRPr sz="3550">
                <a:effectLst>
                  <a:outerShdw sx="100000" sy="100000" kx="0" ky="0" algn="b" rotWithShape="0" blurRad="36068" dist="27050" dir="5400000">
                    <a:srgbClr val="000000"/>
                  </a:outerShdw>
                </a:effectLst>
              </a:defRPr>
            </a:pPr>
            <a:r>
              <a:t>Готова к интеграции через API в HR/PM-платформу.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6. Эффект для бизне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1870">
              <a:defRPr sz="8300">
                <a:effectLst>
                  <a:outerShdw sx="100000" sy="100000" kx="0" ky="0" algn="b" rotWithShape="0" blurRad="42164" dist="31623" dir="5400000">
                    <a:srgbClr val="000000"/>
                  </a:outerShdw>
                </a:effectLst>
              </a:defRPr>
            </a:lvl1pPr>
          </a:lstStyle>
          <a:p>
            <a:pPr/>
            <a:r>
              <a:t>6. Эффект для бизнеса</a:t>
            </a:r>
          </a:p>
        </p:txBody>
      </p:sp>
      <p:sp>
        <p:nvSpPr>
          <p:cNvPr id="158" name="Снижается доля формальных целей-активностей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56847" indent="-456847" defTabSz="607933">
              <a:spcBef>
                <a:spcPts val="3700"/>
              </a:spcBef>
              <a:buBlip>
                <a:blip r:embed="rId2"/>
              </a:buBlip>
              <a:defRPr sz="3700">
                <a:effectLst>
                  <a:outerShdw sx="100000" sy="100000" kx="0" ky="0" algn="b" rotWithShape="0" blurRad="37592" dist="28194" dir="5400000">
                    <a:srgbClr val="000000"/>
                  </a:outerShdw>
                </a:effectLst>
              </a:defRPr>
            </a:pPr>
            <a:r>
              <a:t>Снижается доля формальных целей-активностей.</a:t>
            </a:r>
          </a:p>
          <a:p>
            <a:pPr marL="456847" indent="-456847" defTabSz="607933">
              <a:spcBef>
                <a:spcPts val="3700"/>
              </a:spcBef>
              <a:buBlip>
                <a:blip r:embed="rId2"/>
              </a:buBlip>
              <a:defRPr sz="3700">
                <a:effectLst>
                  <a:outerShdw sx="100000" sy="100000" kx="0" ky="0" algn="b" rotWithShape="0" blurRad="37592" dist="28194" dir="5400000">
                    <a:srgbClr val="000000"/>
                  </a:outerShdw>
                </a:effectLst>
              </a:defRPr>
            </a:pPr>
            <a:r>
              <a:t>Растет стратегическая связка целей с задачами компании.</a:t>
            </a:r>
          </a:p>
          <a:p>
            <a:pPr marL="456847" indent="-456847" defTabSz="607933">
              <a:spcBef>
                <a:spcPts val="3700"/>
              </a:spcBef>
              <a:buBlip>
                <a:blip r:embed="rId2"/>
              </a:buBlip>
              <a:defRPr sz="3700">
                <a:effectLst>
                  <a:outerShdw sx="100000" sy="100000" kx="0" ky="0" algn="b" rotWithShape="0" blurRad="37592" dist="28194" dir="5400000">
                    <a:srgbClr val="000000"/>
                  </a:outerShdw>
                </a:effectLst>
              </a:defRPr>
            </a:pPr>
            <a:r>
              <a:t>Сотрудник получает понятную и измеримую формулировку цели.</a:t>
            </a:r>
          </a:p>
          <a:p>
            <a:pPr marL="456847" indent="-456847" defTabSz="607933">
              <a:spcBef>
                <a:spcPts val="3700"/>
              </a:spcBef>
              <a:buBlip>
                <a:blip r:embed="rId2"/>
              </a:buBlip>
              <a:defRPr sz="3700">
                <a:effectLst>
                  <a:outerShdw sx="100000" sy="100000" kx="0" ky="0" algn="b" rotWithShape="0" blurRad="37592" dist="28194" dir="5400000">
                    <a:srgbClr val="000000"/>
                  </a:outerShdw>
                </a:effectLst>
              </a:defRPr>
            </a:pPr>
            <a:r>
              <a:t>Руководитель и HR получают прозрачность качества goal set.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7. Внедрение после хакатон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2579">
              <a:defRPr sz="7700">
                <a:effectLst>
                  <a:outerShdw sx="100000" sy="100000" kx="0" ky="0" algn="b" rotWithShape="0" blurRad="39116" dist="29337" dir="5400000">
                    <a:srgbClr val="000000"/>
                  </a:outerShdw>
                </a:effectLst>
              </a:defRPr>
            </a:lvl1pPr>
          </a:lstStyle>
          <a:p>
            <a:pPr/>
            <a:r>
              <a:t>7. Внедрение после хакатона</a:t>
            </a:r>
          </a:p>
        </p:txBody>
      </p:sp>
      <p:sp>
        <p:nvSpPr>
          <p:cNvPr id="161" name="Подключение к боевой HR-системе вместо CSV.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530930" indent="-530930" defTabSz="706516">
              <a:spcBef>
                <a:spcPts val="4300"/>
              </a:spcBef>
              <a:buBlip>
                <a:blip r:embed="rId2"/>
              </a:buBlip>
              <a:defRPr sz="4300">
                <a:effectLst>
                  <a:outerShdw sx="100000" sy="100000" kx="0" ky="0" algn="b" rotWithShape="0" blurRad="43688" dist="32766" dir="5400000">
                    <a:srgbClr val="000000"/>
                  </a:outerShdw>
                </a:effectLst>
              </a:defRPr>
            </a:pPr>
            <a:r>
              <a:t>Подключение к боевой HR-системе вместо CSV.</a:t>
            </a:r>
          </a:p>
          <a:p>
            <a:pPr marL="530930" indent="-530930" defTabSz="706516">
              <a:spcBef>
                <a:spcPts val="4300"/>
              </a:spcBef>
              <a:buBlip>
                <a:blip r:embed="rId2"/>
              </a:buBlip>
              <a:defRPr sz="4300">
                <a:effectLst>
                  <a:outerShdw sx="100000" sy="100000" kx="0" ky="0" algn="b" rotWithShape="0" blurRad="43688" dist="32766" dir="5400000">
                    <a:srgbClr val="000000"/>
                  </a:outerShdw>
                </a:effectLst>
              </a:defRPr>
            </a:pPr>
            <a:r>
              <a:t>Историческая калибровка достижимости по фактическим результатам.</a:t>
            </a:r>
          </a:p>
          <a:p>
            <a:pPr marL="530930" indent="-530930" defTabSz="706516">
              <a:spcBef>
                <a:spcPts val="4300"/>
              </a:spcBef>
              <a:buBlip>
                <a:blip r:embed="rId2"/>
              </a:buBlip>
              <a:defRPr sz="4300">
                <a:effectLst>
                  <a:outerShdw sx="100000" sy="100000" kx="0" ky="0" algn="b" rotWithShape="0" blurRad="43688" dist="32766" dir="5400000">
                    <a:srgbClr val="000000"/>
                  </a:outerShdw>
                </a:effectLst>
              </a:defRPr>
            </a:pPr>
            <a:r>
              <a:t>Feedback loop от руководителей и HR BP.</a:t>
            </a:r>
          </a:p>
          <a:p>
            <a:pPr marL="530930" indent="-530930" defTabSz="706516">
              <a:spcBef>
                <a:spcPts val="4300"/>
              </a:spcBef>
              <a:buBlip>
                <a:blip r:embed="rId2"/>
              </a:buBlip>
              <a:defRPr sz="4300">
                <a:effectLst>
                  <a:outerShdw sx="100000" sy="100000" kx="0" ky="0" algn="b" rotWithShape="0" blurRad="43688" dist="32766" dir="5400000">
                    <a:srgbClr val="000000"/>
                  </a:outerShdw>
                </a:effectLst>
              </a:defRPr>
            </a:pPr>
            <a:r>
              <a:t>Расширение до полного performance cycle.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8. Q&amp;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8. Q&amp;A</a:t>
            </a:r>
          </a:p>
        </p:txBody>
      </p:sp>
      <p:sp>
        <p:nvSpPr>
          <p:cNvPr id="164" name="GitHub: github.com/temirrrr/hr-ai-app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  <a:r>
              <a:t>GitHub: github.com/temirrrr/hr-ai-app</a:t>
            </a:r>
          </a:p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  <a:r>
              <a:t>Формат финала: live demo на собственном ноутбуке</a:t>
            </a:r>
          </a:p>
          <a:p>
            <a:pPr marL="592666" indent="-592666" defTabSz="788669">
              <a:spcBef>
                <a:spcPts val="4800"/>
              </a:spcBef>
              <a:buBlip>
                <a:blip r:embed="rId2"/>
              </a:buBlip>
              <a:defRPr sz="4800">
                <a:effectLst>
                  <a:outerShdw sx="100000" sy="100000" kx="0" ky="0" algn="b" rotWithShape="0" blurRad="48768" dist="36576" dir="5400000">
                    <a:srgbClr val="000000"/>
                  </a:outerShdw>
                </a:effectLst>
              </a:defRPr>
            </a:pPr>
            <a:r>
              <a:t>Ключевой тезис: это не SMART-checker, а AI-слой над Performance Management.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3.png"/></Relationships>

</file>

<file path=ppt/theme/theme1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BC00FF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50800" dist="38100" dir="5400000">
                <a:srgbClr val="000000"/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100000"/>
          </a:lnSpc>
          <a:spcBef>
            <a:spcPts val="5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50800" dist="38100" dir="5400000">
                <a:srgbClr val="000000"/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50800" dist="38100" dir="5400000">
                <a:srgbClr val="000000"/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1531" rtl="0" fontAlgn="auto" latinLnBrk="0" hangingPunct="0">
          <a:lnSpc>
            <a:spcPct val="100000"/>
          </a:lnSpc>
          <a:spcBef>
            <a:spcPts val="5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50800" dist="38100" dir="5400000">
                <a:srgbClr val="000000"/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